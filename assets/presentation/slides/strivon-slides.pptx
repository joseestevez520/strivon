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778000"/>
            <a:ext cx="7620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2755900"/>
            <a:ext cx="10795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500"/>
              </a:lnSpc>
            </a:pPr>
            <a:r>
              <a:rPr sz="9500" b="0" spc="-475">
                <a:solidFill>
                  <a:srgbClr val="1D1D1D"/>
                </a:solidFill>
                <a:latin typeface="Inter SemiBold"/>
              </a:rPr>
              <a:t>strivon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140200"/>
            <a:ext cx="9525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60"/>
              </a:lnSpc>
            </a:pPr>
            <a:r>
              <a:rPr sz="2200" b="0">
                <a:solidFill>
                  <a:srgbClr val="51554C"/>
                </a:solidFill>
                <a:latin typeface="Inter"/>
              </a:rPr>
              <a:t>Every shelf tells you what it needs before it runs empty.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485775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sz="1400" b="0">
                <a:solidFill>
                  <a:srgbClr val="686D62"/>
                </a:solidFill>
                <a:latin typeface="Inter"/>
              </a:rPr>
              <a:t>Sensei challenge · JunctionX Lisbon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35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7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9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1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2095500"/>
            <a:ext cx="10160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0" spc="-189">
                <a:solidFill>
                  <a:srgbClr val="1D1D1D"/>
                </a:solidFill>
                <a:latin typeface="Inter SemiBold"/>
              </a:rPr>
              <a:t>An empty shelf is a lost sale.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3048000"/>
            <a:ext cx="10160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0" spc="-189">
                <a:solidFill>
                  <a:srgbClr val="8D8D87"/>
                </a:solidFill>
                <a:latin typeface="Inter SemiBold"/>
              </a:rPr>
              <a:t>An overstocked one is waste.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35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7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2159000"/>
            <a:ext cx="10160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sz="6000" b="0" spc="-210">
                <a:solidFill>
                  <a:srgbClr val="1D1D1D"/>
                </a:solidFill>
                <a:latin typeface="Inter SemiBold"/>
              </a:rPr>
              <a:t>Today, the staff check</a:t>
            </a:r>
          </a:p>
          <a:p>
            <a:pPr algn="l">
              <a:lnSpc>
                <a:spcPts val="6600"/>
              </a:lnSpc>
            </a:pPr>
            <a:r>
              <a:rPr sz="6000" b="0" spc="-210">
                <a:solidFill>
                  <a:srgbClr val="1D1D1D"/>
                </a:solidFill>
                <a:latin typeface="Inter SemiBold"/>
              </a:rPr>
              <a:t>by walking the store.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35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8500" y="533400"/>
            <a:ext cx="10795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sz="3400" b="0" spc="-102">
                <a:solidFill>
                  <a:srgbClr val="1D1D1D"/>
                </a:solidFill>
                <a:latin typeface="Inter SemiBold"/>
              </a:rPr>
              <a:t>From a camera photo to a list of work</a:t>
            </a:r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587500"/>
            <a:ext cx="9525000" cy="4060658"/>
          </a:xfrm>
          <a:prstGeom prst="roundRect">
            <a:avLst>
              <a:gd name="adj" fmla="val 2189"/>
            </a:avLst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35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7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8500" y="533400"/>
            <a:ext cx="10795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sz="3400" b="0" spc="-102">
                <a:solidFill>
                  <a:srgbClr val="1D1D1D"/>
                </a:solidFill>
                <a:latin typeface="Inter SemiBold"/>
              </a:rPr>
              <a:t>The store, with the problems marked</a:t>
            </a:r>
          </a:p>
        </p:txBody>
      </p:sp>
      <p:pic>
        <p:nvPicPr>
          <p:cNvPr id="3" name="Picture 2" descr="v3d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728" y="1397000"/>
            <a:ext cx="6424543" cy="495299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35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7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8500" y="533400"/>
            <a:ext cx="10795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sz="3400" b="0" spc="-102">
                <a:solidFill>
                  <a:srgbClr val="1D1D1D"/>
                </a:solidFill>
                <a:latin typeface="Inter SemiBold"/>
              </a:rPr>
              <a:t>Open a shelf, see what is wrong</a:t>
            </a:r>
          </a:p>
        </p:txBody>
      </p:sp>
      <p:pic>
        <p:nvPicPr>
          <p:cNvPr id="3" name="Picture 2" descr="gondola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0" y="1553913"/>
            <a:ext cx="8255000" cy="463917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35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7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8500" y="533400"/>
            <a:ext cx="10795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sz="3400" b="0" spc="-102">
                <a:solidFill>
                  <a:srgbClr val="1D1D1D"/>
                </a:solidFill>
                <a:latin typeface="Inter SemiBold"/>
              </a:rPr>
              <a:t>Generative UI</a:t>
            </a:r>
          </a:p>
        </p:txBody>
      </p:sp>
      <p:pic>
        <p:nvPicPr>
          <p:cNvPr id="3" name="Picture 2" descr="chat-fram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634" y="1270000"/>
            <a:ext cx="6690731" cy="5080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35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7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905000"/>
            <a:ext cx="101600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0"/>
              </a:lnSpc>
            </a:pPr>
            <a:r>
              <a:rPr sz="13000" b="0" spc="-650">
                <a:solidFill>
                  <a:srgbClr val="1D1D1D"/>
                </a:solidFill>
                <a:latin typeface="Inter SemiBold"/>
              </a:rPr>
              <a:t>3,399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38100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51554C"/>
                </a:solidFill>
                <a:latin typeface="Inter"/>
              </a:rPr>
              <a:t>points of 3,858 on our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44450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sz="1400" b="0">
                <a:solidFill>
                  <a:srgbClr val="686D62"/>
                </a:solidFill>
                <a:latin typeface="Inter"/>
              </a:rPr>
              <a:t>Team benchmark of 1,929 areas, not the hidden set.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35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7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9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2095500"/>
            <a:ext cx="6096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2870200"/>
            <a:ext cx="10795000" cy="768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5000" b="0" spc="-200">
                <a:solidFill>
                  <a:srgbClr val="1D1D1D"/>
                </a:solidFill>
                <a:latin typeface="Inter SemiBold"/>
              </a:rPr>
              <a:t>Try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377825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sz="2300" b="0">
                <a:solidFill>
                  <a:srgbClr val="C4452F"/>
                </a:solidFill>
                <a:latin typeface="Inter"/>
              </a:rPr>
              <a:t>strivon-landing.vercel.app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4413250"/>
            <a:ext cx="1079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500" b="0">
                <a:solidFill>
                  <a:srgbClr val="51554C"/>
                </a:solidFill>
                <a:latin typeface="Inter"/>
              </a:rPr>
              <a:t>Jose · Miguel · André · Leonor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35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7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9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1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